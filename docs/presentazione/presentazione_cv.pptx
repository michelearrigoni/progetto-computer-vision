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Lora"/>
      <ns0:bold ns1:id="rIdFont20"/>
      <ns0:regular ns1:id="rIdFont21"/>
    </ns0:embeddedFont>
    <ns0:embeddedFont>
      <ns0:font typeface="Inter"/>
      <ns0:bold ns1:id="rIdFont22"/>
      <ns0:regular ns1:id="rIdFont2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3b60a8eb-a7f9-4dfe-afc1-6d0e6c715815.fntdata" /><ns0:Relationship Id="rIdFont21" Type="http://schemas.openxmlformats.org/officeDocument/2006/relationships/font" Target="fonts/9f5bb2e2-a8d2-49f4-b8be-b69710e631ae.fntdata" /><ns0:Relationship Id="rIdFont22" Type="http://schemas.openxmlformats.org/officeDocument/2006/relationships/font" Target="fonts/d678d7ae-4226-47dd-9b90-cb34a0938c53.fntdata" /><ns0:Relationship Id="rIdFont23" Type="http://schemas.openxmlformats.org/officeDocument/2006/relationships/font" Target="fonts/ffd807a3-920e-4527-b740-86cfc5f9da1e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342209"/>
            <a:ext cx="5715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820316"/>
            <a:ext cx="107156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Inter"/>
              </a:rPr>
              <a:t>RICERCA UNIVERSITARIA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239416"/>
            <a:ext cx="11251406" cy="6704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b="1" sz="4800" i="0" u="none">
                <a:solidFill>
                  <a:srgbClr val="F8FAFC"/>
                </a:solidFill>
                <a:latin typeface="Lora"/>
              </a:rPr>
              <a:t>Grafi Causali EEG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138487"/>
            <a:ext cx="6762750" cy="746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b="0" sz="2100" i="0" u="none">
                <a:solidFill>
                  <a:srgbClr val="94A3B8"/>
                </a:solidFill>
                <a:latin typeface="Lora"/>
              </a:rPr>
              <a:t>Stima della connettività per la classificazione a tre classi: AD, CN, FTD.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608909"/>
            <a:ext cx="10715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E2E8F0"/>
                </a:solidFill>
                <a:latin typeface="Inter"/>
              </a:rPr>
              <a:t>Michele Arrigoni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847034"/>
            <a:ext cx="107156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Settembre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0"/>
            <a:ext cx="67056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1678334"/>
            <a:ext cx="5334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369A1"/>
                </a:solidFill>
                <a:latin typeface="Inter"/>
              </a:rPr>
              <a:t>OBIETTIVO PRINCIPALE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983134"/>
            <a:ext cx="4580572" cy="100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300" i="0" u="none">
                <a:solidFill>
                  <a:srgbClr val="0F172A"/>
                </a:solidFill>
                <a:latin typeface="Lora"/>
              </a:rPr>
              <a:t>Dall'EEG al Grafo Multivariato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293715"/>
            <a:ext cx="56007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369A1"/>
                </a:solidFill>
                <a:latin typeface="Lora"/>
              </a:rPr>
              <a:t>Nodi Strutturali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569940"/>
            <a:ext cx="5334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19 canali elettroencefalografici.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998565"/>
            <a:ext cx="56007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369A1"/>
                </a:solidFill>
                <a:latin typeface="Lora"/>
              </a:rPr>
              <a:t>Archi Direzionali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274790"/>
            <a:ext cx="5334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Connettività causale stimata.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703415"/>
            <a:ext cx="56007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369A1"/>
                </a:solidFill>
                <a:latin typeface="Lora"/>
              </a:rPr>
              <a:t>Classificazione Clinica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979640"/>
            <a:ext cx="5334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Alzheimer, Sani, Demenza Frontotemporale.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1874490"/>
            <a:ext cx="5024437" cy="437390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1237" y="1874490"/>
            <a:ext cx="9525" cy="437390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57962" y="1874490"/>
            <a:ext cx="5024437" cy="437390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1874490"/>
            <a:ext cx="5024437" cy="38100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57962" y="1874490"/>
            <a:ext cx="5024437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6096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369A1"/>
                </a:solidFill>
                <a:latin typeface="Inter"/>
              </a:rPr>
              <a:t>DATI ANALIZZATI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914400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300" i="0" u="none">
                <a:solidFill>
                  <a:srgbClr val="0F172A"/>
                </a:solidFill>
                <a:latin typeface="Lora"/>
              </a:rPr>
              <a:t>Due Coorti Indipendenti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217390"/>
            <a:ext cx="6594574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Lora"/>
              </a:rPr>
              <a:t>OpenNeuro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836515"/>
            <a:ext cx="6280546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b="1" sz="4800" i="0" u="none">
                <a:solidFill>
                  <a:srgbClr val="0F172A"/>
                </a:solidFill>
                <a:latin typeface="Inter"/>
              </a:rPr>
              <a:t>87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522315"/>
            <a:ext cx="628054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Soggetti totali elaborati.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7962" y="2217390"/>
            <a:ext cx="5634037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Lora"/>
              </a:rPr>
              <a:t>BrainLat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7962" y="2836515"/>
            <a:ext cx="5634037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b="1" sz="4800" i="0" u="none">
                <a:solidFill>
                  <a:srgbClr val="0F172A"/>
                </a:solidFill>
                <a:latin typeface="Inter"/>
              </a:rPr>
              <a:t>85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7962" y="3522315"/>
            <a:ext cx="56340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Soggetti totali elaborati.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027140"/>
            <a:ext cx="6280546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1500" i="0" u="none">
                <a:solidFill>
                  <a:srgbClr val="0F172A"/>
                </a:solidFill>
                <a:latin typeface="Inter"/>
              </a:rPr>
              <a:t>29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Controlli Sani (CN)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4370040"/>
            <a:ext cx="6280546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1500" i="0" u="none">
                <a:solidFill>
                  <a:srgbClr val="0F172A"/>
                </a:solidFill>
                <a:latin typeface="Inter"/>
              </a:rPr>
              <a:t>36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Alzheimer (AD)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4712940"/>
            <a:ext cx="6280546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1500" i="0" u="none">
                <a:solidFill>
                  <a:srgbClr val="0F172A"/>
                </a:solidFill>
                <a:latin typeface="Inter"/>
              </a:rPr>
              <a:t>22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Demenza Frontotemporale (FTD)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7962" y="4027140"/>
            <a:ext cx="5634037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1500" i="0" u="none">
                <a:solidFill>
                  <a:srgbClr val="0F172A"/>
                </a:solidFill>
                <a:latin typeface="Inter"/>
              </a:rPr>
              <a:t>32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Controlli Sani (CN)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7962" y="4370040"/>
            <a:ext cx="5634037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1500" i="0" u="none">
                <a:solidFill>
                  <a:srgbClr val="0F172A"/>
                </a:solidFill>
                <a:latin typeface="Inter"/>
              </a:rPr>
              <a:t>35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Alzheimer (AD)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7962" y="4712940"/>
            <a:ext cx="5634037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1500" i="0" u="none">
                <a:solidFill>
                  <a:srgbClr val="0F172A"/>
                </a:solidFill>
                <a:latin typeface="Inter"/>
              </a:rPr>
              <a:t>18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Demenza Frontotemporale (FTD)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381000" y="609600"/>
            <a:ext cx="129540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b="1" sz="3300" i="0" u="none">
                <a:solidFill>
                  <a:srgbClr val="0F172A"/>
                </a:solidFill>
                <a:latin typeface="Lora"/>
              </a:rPr>
              <a:t>Fasi di Pre-elaborazione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9333" y="4461420"/>
            <a:ext cx="1741661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Banda passante 0.5-40 Hz.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69791" y="4461420"/>
            <a:ext cx="1741661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Segmenti fissi 5 secondi.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0249" y="4461420"/>
            <a:ext cx="1741661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Soglia ampiezza rigorosa.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69772" y="4556670"/>
            <a:ext cx="158353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Test ADF e KPSS.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688728" y="3889920"/>
            <a:ext cx="1393328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99186" y="3889920"/>
            <a:ext cx="1393328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09644" y="3889920"/>
            <a:ext cx="1393328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63414" y="2975520"/>
            <a:ext cx="1333500" cy="1333500"/>
          </a:xfrm>
          <a:prstGeom prst="roundRect">
            <a:avLst>
              <a:gd name="adj" fmla="val 35714"/>
            </a:avLst>
          </a:prstGeom>
          <a:solidFill>
            <a:srgbClr val="F8FAFC"/>
          </a:solidFill>
          <a:ln w="19050">
            <a:solidFill>
              <a:srgbClr val="0369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073872" y="2975520"/>
            <a:ext cx="1333500" cy="1333500"/>
          </a:xfrm>
          <a:prstGeom prst="roundRect">
            <a:avLst>
              <a:gd name="adj" fmla="val 35714"/>
            </a:avLst>
          </a:prstGeom>
          <a:solidFill>
            <a:srgbClr val="F8FAFC"/>
          </a:solidFill>
          <a:ln w="19050">
            <a:solidFill>
              <a:srgbClr val="0369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84330" y="2975520"/>
            <a:ext cx="1333500" cy="1333500"/>
          </a:xfrm>
          <a:prstGeom prst="roundRect">
            <a:avLst>
              <a:gd name="adj" fmla="val 35714"/>
            </a:avLst>
          </a:prstGeom>
          <a:solidFill>
            <a:srgbClr val="F8FAFC"/>
          </a:solidFill>
          <a:ln w="19050">
            <a:solidFill>
              <a:srgbClr val="0369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494787" y="3070770"/>
            <a:ext cx="1333500" cy="1333500"/>
          </a:xfrm>
          <a:prstGeom prst="roundRect">
            <a:avLst>
              <a:gd name="adj" fmla="val 35714"/>
            </a:avLst>
          </a:prstGeom>
          <a:solidFill>
            <a:srgbClr val="F8FAFC"/>
          </a:solidFill>
          <a:ln w="19050">
            <a:solidFill>
              <a:srgbClr val="0369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664" y="3332708"/>
            <a:ext cx="381000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8222" y="3332708"/>
            <a:ext cx="3048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8680" y="3332708"/>
            <a:ext cx="3048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8187" y="3427958"/>
            <a:ext cx="2667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63414" y="3751808"/>
            <a:ext cx="1333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Filtraggio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3872" y="3751808"/>
            <a:ext cx="1333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Epoche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4330" y="3751808"/>
            <a:ext cx="1333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Qualità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94787" y="3847058"/>
            <a:ext cx="1333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Stazionarietà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299370"/>
            <a:ext cx="457200" cy="457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251870"/>
            <a:ext cx="4572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187" y="3413670"/>
            <a:ext cx="200025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4366170"/>
            <a:ext cx="17145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2034480"/>
            <a:ext cx="6858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369A1"/>
                </a:solidFill>
                <a:latin typeface="Inter"/>
              </a:rPr>
              <a:t>ANALISI DEL SEGNALE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339280"/>
            <a:ext cx="72009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300" i="0" u="none">
                <a:solidFill>
                  <a:srgbClr val="0F172A"/>
                </a:solidFill>
                <a:latin typeface="Lora"/>
              </a:rPr>
              <a:t>Caratteristiche Nodi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5400" y="3299370"/>
            <a:ext cx="3312914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Lora"/>
              </a:rPr>
              <a:t>Spettrali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3670845"/>
            <a:ext cx="31551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Potenze bande metodo Welch.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0" y="4251870"/>
            <a:ext cx="4038004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Lora"/>
              </a:rPr>
              <a:t>Statistiche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400" y="4623345"/>
            <a:ext cx="38457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Media, varianza, deviazione standard.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46077"/>
            <a:ext cx="3505200" cy="1525785"/>
          </a:xfrm>
          <a:prstGeom prst="roundRect">
            <a:avLst>
              <a:gd name="adj" fmla="val 49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26122"/>
            <a:ext cx="3505200" cy="1765696"/>
          </a:xfrm>
          <a:prstGeom prst="roundRect">
            <a:avLst>
              <a:gd name="adj" fmla="val 43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26122"/>
            <a:ext cx="3505200" cy="1765696"/>
          </a:xfrm>
          <a:prstGeom prst="roundRect">
            <a:avLst>
              <a:gd name="adj" fmla="val 43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3925" y="3869977"/>
            <a:ext cx="304800" cy="1905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57725" y="3750022"/>
            <a:ext cx="304800" cy="190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391525" y="3750022"/>
            <a:ext cx="304800" cy="190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-381000" y="609600"/>
            <a:ext cx="129540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b="1" sz="3300" i="0" u="none">
                <a:solidFill>
                  <a:srgbClr val="0F172A"/>
                </a:solidFill>
                <a:latin typeface="Lora"/>
              </a:rPr>
              <a:t>Stima Dipendenze Direzionali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460402"/>
            <a:ext cx="3775471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Lora"/>
              </a:rPr>
              <a:t>Causalità Granger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4117627"/>
            <a:ext cx="3595687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Predittività autoregressiva passata.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7725" y="3340447"/>
            <a:ext cx="3775471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Lora"/>
              </a:rPr>
              <a:t>VARLiNGAM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997672"/>
            <a:ext cx="29718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Coefficienti strutturali lineari ritardati.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1525" y="3340447"/>
            <a:ext cx="3775471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Lora"/>
              </a:rPr>
              <a:t>PCMCI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997672"/>
            <a:ext cx="29718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Indipendenza condizionata temporanea ParCorr.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333" y="2435869"/>
            <a:ext cx="6193184" cy="1547961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8458" y="2902594"/>
            <a:ext cx="4954934" cy="6145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7737" y="1864369"/>
            <a:ext cx="33456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369A1"/>
                </a:solidFill>
                <a:latin typeface="Inter"/>
              </a:rPr>
              <a:t>FORMALIZZAZIONE SOGGETTO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66925" y="4441031"/>
            <a:ext cx="233362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369A1"/>
                </a:solidFill>
                <a:latin typeface="Inter"/>
              </a:rPr>
              <a:t>V, 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66925" y="4793456"/>
            <a:ext cx="2333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Nodi e attributi estratti.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9365" y="4441031"/>
            <a:ext cx="327421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369A1"/>
                </a:solidFill>
                <a:latin typeface="Inter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9365" y="4793456"/>
            <a:ext cx="32742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Matrice adiacenza normalizzata.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0018" y="4441031"/>
            <a:ext cx="235743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369A1"/>
                </a:solidFill>
                <a:latin typeface="Inter"/>
              </a:rPr>
              <a:t>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0018" y="4793456"/>
            <a:ext cx="2357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Etichetta classe clinica.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70795"/>
            <a:ext cx="10972800" cy="1581150"/>
          </a:xfrm>
          <a:prstGeom prst="roundRect">
            <a:avLst>
              <a:gd name="adj" fmla="val 72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806" y="3947070"/>
            <a:ext cx="142875" cy="228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4562" y="3947070"/>
            <a:ext cx="142875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6318" y="3947070"/>
            <a:ext cx="142875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369A1"/>
                </a:solidFill>
                <a:latin typeface="Inter"/>
              </a:rPr>
              <a:t>VALUTAZIONE INDIPENDENTE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14400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300" i="0" u="none">
                <a:solidFill>
                  <a:srgbClr val="0F172A"/>
                </a:solidFill>
                <a:latin typeface="Lora"/>
              </a:rPr>
              <a:t>Architettura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564" y="3737520"/>
            <a:ext cx="2717601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F172A"/>
                </a:solidFill>
                <a:latin typeface="Inter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564" y="4185195"/>
            <a:ext cx="271760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494 valori uniti.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6321" y="3737520"/>
            <a:ext cx="2717601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369A1"/>
                </a:solidFill>
                <a:latin typeface="Inter"/>
              </a:rPr>
              <a:t>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6321" y="4185195"/>
            <a:ext cx="271760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32 neuroni lineari.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48077" y="3737520"/>
            <a:ext cx="2717601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369A1"/>
                </a:solidFill>
                <a:latin typeface="Inter"/>
              </a:rPr>
              <a:t>ReLU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48077" y="4185195"/>
            <a:ext cx="271760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Dropout 10 percento.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9833" y="3737520"/>
            <a:ext cx="2717601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F172A"/>
                </a:solidFill>
                <a:latin typeface="Inter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9833" y="4185195"/>
            <a:ext cx="271760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3 probabilità classi.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08101" y="1967805"/>
            <a:ext cx="6375796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b="1" sz="3300" i="0" u="none">
                <a:solidFill>
                  <a:srgbClr val="0F172A"/>
                </a:solidFill>
                <a:latin typeface="Lora"/>
              </a:rPr>
              <a:t>Accuratezza OpenNeuro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68328" y="2927895"/>
            <a:ext cx="4655343" cy="1143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b="1" sz="9000" i="0" u="none">
                <a:solidFill>
                  <a:srgbClr val="0F172A"/>
                </a:solidFill>
                <a:latin typeface="Inter"/>
              </a:rPr>
              <a:t>60.5%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79093" y="4299495"/>
            <a:ext cx="3833812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Test Accuratezza Bilanciata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33750" y="4690020"/>
            <a:ext cx="5524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Massimo punteggio ottenuto dal modello VARLiNGAM.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76897" y="1967805"/>
            <a:ext cx="5638204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b="1" sz="3300" i="0" u="none">
                <a:solidFill>
                  <a:srgbClr val="0F172A"/>
                </a:solidFill>
                <a:latin typeface="Lora"/>
              </a:rPr>
              <a:t>Accuratezza BrainLat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0734" y="2927895"/>
            <a:ext cx="4250531" cy="1143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b="1" sz="9000" i="0" u="none">
                <a:solidFill>
                  <a:srgbClr val="0F172A"/>
                </a:solidFill>
                <a:latin typeface="Inter"/>
              </a:rPr>
              <a:t>82.1%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79093" y="4299495"/>
            <a:ext cx="3833812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Test Accuratezza Bilanciata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4690020"/>
            <a:ext cx="5334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Parità prestazioni tra modelli Granger e VARLiNGAM.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1874490"/>
            <a:ext cx="3454449" cy="4373909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8849" y="1874490"/>
            <a:ext cx="3454449" cy="4373909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8099" y="1874490"/>
            <a:ext cx="3454449" cy="4373909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1874490"/>
            <a:ext cx="38100" cy="4373909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68849" y="1874490"/>
            <a:ext cx="38100" cy="4373909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99" y="1874490"/>
            <a:ext cx="38100" cy="437390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255490"/>
            <a:ext cx="2654349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7949" y="2255490"/>
            <a:ext cx="2654349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7199" y="2255490"/>
            <a:ext cx="2654349" cy="381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6096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369A1"/>
                </a:solidFill>
                <a:latin typeface="Inter"/>
              </a:rPr>
              <a:t>CONSIDERAZIONI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914400"/>
            <a:ext cx="115824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300" i="0" u="none">
                <a:solidFill>
                  <a:srgbClr val="0F172A"/>
                </a:solidFill>
                <a:latin typeface="Lora"/>
              </a:rPr>
              <a:t>Limiti e Sviluppi Futuri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" y="2865090"/>
            <a:ext cx="2887079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Lora"/>
              </a:rPr>
              <a:t>Rappresentazione Statica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" y="3569940"/>
            <a:ext cx="27495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Esclusione dinamiche temporali EEG.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7949" y="2865090"/>
            <a:ext cx="3483833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Lora"/>
              </a:rPr>
              <a:t>Dimensione Campione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7949" y="3274665"/>
            <a:ext cx="3317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Numerosità ridotta classe FTD.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7199" y="2865090"/>
            <a:ext cx="3483833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Lora"/>
              </a:rPr>
              <a:t>Graph Neural Networks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7199" y="3274665"/>
            <a:ext cx="27495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Sviluppo architetture deep geometriche.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67400" y="2206079"/>
            <a:ext cx="457200" cy="2857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5375" y="2539454"/>
            <a:ext cx="10001250" cy="16457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F8FAFC"/>
                </a:solidFill>
                <a:latin typeface="Lora"/>
              </a:rPr>
              <a:t>Fondamenta strutturali per la classificazione geometrica avanzata.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6343" y="4413795"/>
            <a:ext cx="211931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Lora"/>
              </a:rPr>
              <a:t>Fine Presentazione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667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28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28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9650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81175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00262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Lora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52512"/>
            <a:ext cx="996553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https://images.stockcake.com/public/d/b/0/db0f06df-4a0c-4039-97d7-ecc6e64ee629_large/illuminated-neural-network-stockcake.jpg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52537"/>
            <a:ext cx="21193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stockcake.com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24037"/>
            <a:ext cx="4857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https://www.brainaccess.ai/wp-content/uploads/2025/04/cap.jpg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024062"/>
            <a:ext cx="25479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www.brainaccess.ai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